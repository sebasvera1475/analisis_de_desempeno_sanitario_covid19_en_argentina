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50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Mortalidad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CB-46C6-8B6F-3871A07A35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DCB-46C6-8B6F-3871A07A35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DCB-46C6-8B6F-3871A07A3537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CB-46C6-8B6F-3871A07A3537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CB-46C6-8B6F-3871A07A3537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DCB-46C6-8B6F-3871A07A3537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DCB-46C6-8B6F-3871A07A35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Niñez</c:v>
                </c:pt>
                <c:pt idx="1">
                  <c:v>Adolescente</c:v>
                </c:pt>
                <c:pt idx="2">
                  <c:v>Joven</c:v>
                </c:pt>
                <c:pt idx="3">
                  <c:v>Ad. Joven</c:v>
                </c:pt>
                <c:pt idx="4">
                  <c:v>Adulto</c:v>
                </c:pt>
                <c:pt idx="5">
                  <c:v>Ad. Mayor</c:v>
                </c:pt>
                <c:pt idx="6">
                  <c:v>Anciano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</c:v>
                </c:pt>
                <c:pt idx="1">
                  <c:v>2.9</c:v>
                </c:pt>
                <c:pt idx="2">
                  <c:v>4.4000000000000004</c:v>
                </c:pt>
                <c:pt idx="3">
                  <c:v>19</c:v>
                </c:pt>
                <c:pt idx="4">
                  <c:v>47.4</c:v>
                </c:pt>
                <c:pt idx="5">
                  <c:v>60.7</c:v>
                </c:pt>
                <c:pt idx="6">
                  <c:v>67.5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DCB-46C6-8B6F-3871A07A35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E4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2E4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Público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Mortalidad bruta</c:v>
                </c:pt>
                <c:pt idx="1">
                  <c:v>Mort. aj. edad</c:v>
                </c:pt>
                <c:pt idx="2">
                  <c:v>UCI (%)</c:v>
                </c:pt>
                <c:pt idx="3">
                  <c:v>ARM (%)</c:v>
                </c:pt>
                <c:pt idx="4">
                  <c:v>Mort. sin UCI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32.799999999999997</c:v>
                </c:pt>
                <c:pt idx="1">
                  <c:v>35.1</c:v>
                </c:pt>
                <c:pt idx="2">
                  <c:v>21.3</c:v>
                </c:pt>
                <c:pt idx="3">
                  <c:v>12.8</c:v>
                </c:pt>
                <c:pt idx="4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B-4B92-9AB3-A8092445A2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Privado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Mortalidad bruta</c:v>
                </c:pt>
                <c:pt idx="1">
                  <c:v>Mort. aj. edad</c:v>
                </c:pt>
                <c:pt idx="2">
                  <c:v>UCI (%)</c:v>
                </c:pt>
                <c:pt idx="3">
                  <c:v>ARM (%)</c:v>
                </c:pt>
                <c:pt idx="4">
                  <c:v>Mort. sin UCI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35.700000000000003</c:v>
                </c:pt>
                <c:pt idx="1">
                  <c:v>31.1</c:v>
                </c:pt>
                <c:pt idx="2">
                  <c:v>20.100000000000001</c:v>
                </c:pt>
                <c:pt idx="3">
                  <c:v>10.3</c:v>
                </c:pt>
                <c:pt idx="4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BB-4B92-9AB3-A8092445A2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E4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2E4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53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3108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MINISTERIO DE SALUD · ARGENTINA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Sanitario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COVID-19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Análisis de mortalidad hospitalaria, segmentación territorial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y modelado predictivo · Argentina 2020 – 2022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34747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Grupo 7 · Diplomatura en Ciencia de Datos y Análisis Avanzado · UTN BA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Sebastian Vera  |  Jessica M. Kaufman  |  Matias Lercari  |  Juan Pablo Villareal Nuñez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BENCHMARK NACIONAL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993392" cy="1170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99339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236.856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Pacientes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hospitalizados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Mar 2020–Jun 2022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078992"/>
            <a:ext cx="1993392" cy="1170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560320" y="1078992"/>
            <a:ext cx="19933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70048" y="120700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17190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Mortalidad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hospitalaria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80.037 fallecidos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1993392" cy="1170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754880" y="1078992"/>
            <a:ext cx="199339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64608" y="120700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17190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Escalada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UCI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49.435 pacientes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49440" y="1078992"/>
            <a:ext cx="1993392" cy="1170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949440" y="1078992"/>
            <a:ext cx="199339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059168" y="120700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0" y="17190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Requirieron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28.316 pacientes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8412480" cy="1508760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84124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48640" y="2542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F6E4"/>
                </a:solidFill>
              </a:rPr>
              <a:t>Cadena de Escalada Clínica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288036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7724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" y="34930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Internados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236.856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89888" y="3163824"/>
            <a:ext cx="1371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770632" y="288036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77063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20,9%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60904" y="34930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UCI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49.435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83280" y="3163824"/>
            <a:ext cx="1371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764024" y="2880360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764024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12,0%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54296" y="34930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ARM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28.316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76672" y="3163824"/>
            <a:ext cx="1371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6757416" y="288036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75741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33,8%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47688" y="34930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Fallecidos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80.037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397764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Mortalidad en UCI: 66,0%  ·  Mortalidad en ARM: 81,3%  ·  Mortalidad sin UCI: 25,3%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Fuente: SISA · Ministerio de Salud de la Nación · 2020–2022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2/10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PERFIL DEMOGRÁFICO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por Rango Etario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15568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15568"/>
            <a:ext cx="3154680" cy="3246120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833872" y="12618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</a:rPr>
              <a:t>Hallazgos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33872" y="1627632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144768" y="160934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Anciano 67,5% · 2× más riesgo que adulto joven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33872" y="230428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144768" y="228600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Adulto Mayor 60,7% · ARM útil sólo hasta ~60 años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33872" y="29809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144768" y="296265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Adulto Joven 19% · Mayor volumen de internados (39%)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33872" y="365760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144768" y="36393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Menores de 30 años: mortalidad &lt; 5%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4425696"/>
            <a:ext cx="8412480" cy="274320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502920" y="44439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Tasa ARM máx: Adulto 17,0% · Adulto Joven 11,7%  |  ARM prácticamente no se usa en mayores de 80 años (3,9%)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n = 236.856 pacientes internados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3/10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MACHINE LEARNING — KMEANS K=3 · SILHOUETTE=0,247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Perfiles de Desempeño Hospitalario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51760" cy="3520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517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93776" y="122529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Mejor Desempeño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" y="1572768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93776" y="23042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mortalidad media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" y="2578608"/>
            <a:ext cx="1115568" cy="49377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93776" y="25968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" y="28712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UCI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55648" y="2578608"/>
            <a:ext cx="1115568" cy="49377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755648" y="25968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55648" y="28712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% en alta intensidad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" y="314553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CABA · Neuquén · Río Negro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" y="3511296"/>
            <a:ext cx="2395728" cy="658368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66928" y="35661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Menor mortalidad del país. Operaron mayoritariamente fuera de los picos epidémicos.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115568"/>
            <a:ext cx="2651760" cy="3520440"/>
          </a:xfrm>
          <a:prstGeom prst="rect">
            <a:avLst/>
          </a:prstGeom>
          <a:solidFill>
            <a:srgbClr val="1C1508"/>
          </a:solidFill>
          <a:ln w="12700">
            <a:solidFill>
              <a:srgbClr val="1C15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0" y="1115568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28416" y="122529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Desempeño Intermedio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28416" y="1572768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3328416" y="23042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mortalidad media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28416" y="2578608"/>
            <a:ext cx="1115568" cy="49377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28416" y="25968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28416" y="28712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UCI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90288" y="2578608"/>
            <a:ext cx="1115568" cy="49377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590288" y="25968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31,1%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28712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% en alta intensidad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28416" y="314553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Bs. As. · Córdoba · Santa Fe · Mendoza · Chaco y 13 más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28416" y="3511296"/>
            <a:ext cx="2395728" cy="658368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401568" y="35661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Absorben el grueso de la presión asistencial durante los picos de 2021.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1115568"/>
            <a:ext cx="2651760" cy="3520440"/>
          </a:xfrm>
          <a:prstGeom prst="rect">
            <a:avLst/>
          </a:prstGeom>
          <a:solidFill>
            <a:srgbClr val="180808"/>
          </a:solidFill>
          <a:ln w="12700">
            <a:solidFill>
              <a:srgbClr val="1808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035040" y="1115568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163056" y="122529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Caso Atípico Crítico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63056" y="1572768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74,0%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6163056" y="23042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mortalidad media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63056" y="2578608"/>
            <a:ext cx="1115568" cy="49377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163056" y="25968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72,5%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63056" y="28712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UCI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24928" y="2578608"/>
            <a:ext cx="1115568" cy="49377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7424928" y="25968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49,2%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24928" y="28712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% en alta intensidad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63056" y="314553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Formosa público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63056" y="3511296"/>
            <a:ext cx="2395728" cy="658368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236208" y="35661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Outlier aislado por el algoritmo. Posible subregistro o saturación extrema del sistema.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Variables: mortalidad, UCI, ARM, severidad, tiempos de respuesta + % casos en alta/baja intensidad epidémica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4/10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DINÁMICA TEMPORAL — HIPÓTESIS H3 CONFIRMADA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intensidad epidémica modifica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desempeño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30352" y="1490472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Umbral Alta intensidad: mortalidad ≥ 40,2%  ·  Umbral Baja intensidad: ≤ 18,0%  ·  Media mensual: 29,1% (σ = 11,1%)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51760" cy="1481328"/>
          </a:xfrm>
          <a:prstGeom prst="rect">
            <a:avLst/>
          </a:prstGeom>
          <a:solidFill>
            <a:srgbClr val="180808"/>
          </a:solidFill>
          <a:ln w="12700">
            <a:solidFill>
              <a:srgbClr val="1808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93776" y="20848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F4444"/>
                </a:solidFill>
              </a:rPr>
              <a:t>ALTA INTENSIDAD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23225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3776" y="2743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Abr–Jun 2021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Mort: 45,9–46,1%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3054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n: 64.373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993392"/>
            <a:ext cx="2651760" cy="1481328"/>
          </a:xfrm>
          <a:prstGeom prst="rect">
            <a:avLst/>
          </a:prstGeom>
          <a:solidFill>
            <a:srgbClr val="1C1508"/>
          </a:solidFill>
          <a:ln w="12700">
            <a:solidFill>
              <a:srgbClr val="1C15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00400" y="1993392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28416" y="20848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59E0B"/>
                </a:solidFill>
              </a:rPr>
              <a:t>MEDIA INTENSIDAD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28416" y="23225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meses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28416" y="2743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2020-07 a 2022-04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(excepto picos/inicio)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Mort: 21–40%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054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n: 152.839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993392"/>
            <a:ext cx="2651760" cy="1481328"/>
          </a:xfrm>
          <a:prstGeom prst="rect">
            <a:avLst/>
          </a:prstGeom>
          <a:solidFill>
            <a:srgbClr val="081508"/>
          </a:solidFill>
          <a:ln w="12700">
            <a:solidFill>
              <a:srgbClr val="0815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035040" y="1993392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63056" y="20848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2C55E"/>
                </a:solidFill>
              </a:rPr>
              <a:t>BAJA INTENSIDAD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63056" y="23225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63056" y="2743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Mar–Jun 2020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May–Jun 2022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63056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Mort: 4,3–15,4%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3054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n: 19.644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8412480" cy="585216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02920" y="371246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94944" y="367588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Mayo 2021: 25.250 internaciones · 46,1% mortalidad · pico histórico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371246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798064" y="367588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Público absorbió 72,2% en el pico (vs 64,6% promedio)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71246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901184" y="367588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4 meses con tensión UCI &gt; 26,1%: mar/ago/sep/dic 2021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12280" y="371246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004304" y="367588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Cluster 1 (CABA, Neuquén, Río Negro): solo 13,6% en alta intensidad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Intensidad epidémica construida con μ±σ de mortalidad mensual (μ=29,1%, σ=11,1%)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5/10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SECTOR PÚBLICO VS PRIVADO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privado parece más eficiente...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ajustás por edad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17320"/>
          <a:ext cx="5303520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2880360" cy="3218688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053328" y="15544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</a:rPr>
              <a:t>Interpretación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883664"/>
            <a:ext cx="45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053328" y="18653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Brecha bruta: Privado +2,9pp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(35,7% vs 32,8%)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97880" y="2395728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053328" y="237744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Al ajustar por edad: la brecha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SE INVIERTE (−3,96pp)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97880" y="2907792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053328" y="288950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Ad. Joven: brecha 7,3pp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(Público 21,2% vs Privado 13,9%)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97880" y="3419856"/>
            <a:ext cx="4572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053328" y="34015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Ancianos: diferencia mínima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(0,1pp — convergen)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97880" y="3931920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053328" y="39136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Privado escala a UCI 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mismo día: 65,1% vs 59,1%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Efecto atribuible al perfil etario: +6,87pp · Público: 153.990 casos | Privado: 82.866 casos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6/10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MODELO PREDICTIVO — XGBOOST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Algoritmos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3042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overfit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(media)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(α=1,0)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F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ELEGIDO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364992"/>
            <a:ext cx="8412480" cy="126187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65760" y="3364992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30352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</a:rPr>
              <a:t>Top 5 Variables — Permutation Importance (XGBoost)</a:t>
            </a:r>
            <a:endParaRPr lang="en-US" sz="1100" dirty="0"/>
          </a:p>
        </p:txBody>
      </p:sp>
      <p:sp>
        <p:nvSpPr>
          <p:cNvPr id="4" name="Shape 5"/>
          <p:cNvSpPr/>
          <p:nvPr/>
        </p:nvSpPr>
        <p:spPr>
          <a:xfrm>
            <a:off x="502920" y="3767328"/>
            <a:ext cx="141732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02920" y="3767328"/>
            <a:ext cx="1190549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02920" y="3968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Tasa ARM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02920" y="4178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0,239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30552" y="3767328"/>
            <a:ext cx="141732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2130552" y="3767328"/>
            <a:ext cx="8503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130552" y="3968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Edad mediana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130552" y="4178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0,170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58184" y="3767328"/>
            <a:ext cx="141732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3758184" y="3767328"/>
            <a:ext cx="765353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3758184" y="3968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Provincia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758184" y="4178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0,153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85816" y="3767328"/>
            <a:ext cx="141732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385816" y="3767328"/>
            <a:ext cx="623621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385816" y="3968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Severidad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85816" y="4178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0,126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13448" y="3767328"/>
            <a:ext cx="141732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7013448" y="3767328"/>
            <a:ext cx="53858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7013448" y="3968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Prop. 60+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013448" y="4178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0,109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Validación K-Fold k=5 · Variable objetivo: mort_pct mensual por provincia · n=563 observaciones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7/10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IMPACTO EN EL NEGOCIO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 Vidas Evitables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200400" cy="3401568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13.853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2944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vidas evitables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2944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Si las provincias de bajo desempeño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hubieran operado al nivel 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cluster de mejor desempeño (18,4%)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3310128"/>
            <a:ext cx="265176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Benchmark: 18,4% mortalidad · Cluster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13 provincias con brecha positiva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024128"/>
            <a:ext cx="5029200" cy="3401568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913632" y="11704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</a:rPr>
              <a:t>Top 5 — Mayor potencial de mejora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13632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Buenos Aires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30368" y="1591056"/>
            <a:ext cx="242316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230368" y="1591056"/>
            <a:ext cx="230200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699248" y="15361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9.785 vidas · +13,0pp · mort: 45,4%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13632" y="2048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Santa Fe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30368" y="2103120"/>
            <a:ext cx="242316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230368" y="2103120"/>
            <a:ext cx="155082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699248" y="20482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1.514 vidas · +11,2pp · mort: 43,5%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13632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Formosa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30368" y="2615184"/>
            <a:ext cx="242316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230368" y="2615184"/>
            <a:ext cx="24231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699248" y="25603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745 vidas · +41,7pp · mort: 74,0%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13632" y="30723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Chaco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30368" y="3127248"/>
            <a:ext cx="242316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230368" y="3127248"/>
            <a:ext cx="145389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699248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671 vidas · +11,3pp · mort: 43,6%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13632" y="3584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Salta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30368" y="3639312"/>
            <a:ext cx="242316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230368" y="3639312"/>
            <a:ext cx="872338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699248" y="3584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433 vidas · +6,0pp · mort: 38,3%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H4 confirmada parcialmente: diferencias residuales de hasta 2,4pp tras ajuste multivariado por edad, severidad, sector e intensidad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8/10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PLANIFICACIÓN ESTRATÉGICA — SIMULACIÓN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Simulación: Nueva Variante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420624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5486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Período de referencia: Mayo 2021 (pico histórico) · 25.250 casos · mortalidad 46,1% · duración proyectada: 3 meses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51760" cy="2395728"/>
          </a:xfrm>
          <a:prstGeom prst="rect">
            <a:avLst/>
          </a:prstGeom>
          <a:solidFill>
            <a:srgbClr val="180808"/>
          </a:solidFill>
          <a:ln w="12700">
            <a:solidFill>
              <a:srgbClr val="1808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93776" y="16642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mortalidad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Internaciones est.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43230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75.750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" y="2596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Fallecidos est.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8346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34.884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0352" y="2999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Pacientes UCI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32369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19.041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0352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Pacientes ARM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639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12.345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00400" y="1554480"/>
            <a:ext cx="2651760" cy="2395728"/>
          </a:xfrm>
          <a:prstGeom prst="rect">
            <a:avLst/>
          </a:prstGeom>
          <a:solidFill>
            <a:srgbClr val="1C1508"/>
          </a:solidFill>
          <a:ln w="12700">
            <a:solidFill>
              <a:srgbClr val="1C15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0" y="15544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28416" y="16642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contagio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6499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Internaciones est.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4992" y="243230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75.750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64992" y="2596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Fallecidos est.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28346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34.884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64992" y="2999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Pacientes UCI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32369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19.041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64992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Pacientes ARM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3639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12.345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035040" y="1554480"/>
            <a:ext cx="2651760" cy="2395728"/>
          </a:xfrm>
          <a:prstGeom prst="rect">
            <a:avLst/>
          </a:prstGeom>
          <a:solidFill>
            <a:srgbClr val="081508"/>
          </a:solidFill>
          <a:ln w="12700">
            <a:solidFill>
              <a:srgbClr val="0815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035040" y="155448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163056" y="16642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 −20%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963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Internaciones est.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243230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75.750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199632" y="2596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Fallecidos est.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28346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27.907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199632" y="2999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Pacientes UCI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9632" y="32369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15.232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199632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Pacientes ARM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3639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9.876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365760" y="4041648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30352" y="4133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Impacto del aprendizaje institucional (A → C):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34840" y="41330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6.977 vidas salvadas  ·  3.809 camas UCI liberadas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Saturación histórica: umbral μ+σ = 40,2% mortalidad mensual · Tensión UCI: &gt; 26,1%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9/10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ACCIONES PARA EL MINISTERIO DE SALUD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Recomendaciones basadas en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4008" cy="1115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30352" y="12344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07008" y="11795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Focalización territorial de recursos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5270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Priorizar Buenos Aires (+9.785 vidas, brecha +13pp), Santa Fe (+1.514) y Formosa (+41,7pp). Las diferencias residuales no se explican por perfil de pacientes → hay factores estructurales que intervenir.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155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24688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207008" y="2414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Protocolos pre-UCI en el sector público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La brecha de 5,1pp en mortalidad sin UCI sugiere déficit en detección y manejo clínico temprano. Estandarizar protocolos en el sector público con foco en provincias de alta dependencia pública (Corrientes 99,8%, La Pampa 95,3%, Neuquén 92,3%).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1155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30352" y="370332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207008" y="364845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 de alertas tempranas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99592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Activar alerta operativa cuando mortalidad mensual supere 40,2% (μ+σ histórico) o escalada UCI supere 26,1%. Historicamente anticipó situaciones de saturación con 2–4 semanas de margen para reforzar capacidades.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</a:rPr>
              <a:t>Basado en 236.856 casos · 2020–2022 · Grupo 7 – Diplomatura Ciencia de Datos UTN BA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10/10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1160</Words>
  <Application>Microsoft Office PowerPoint</Application>
  <PresentationFormat>Presentación en pantalla (16:9)</PresentationFormat>
  <Paragraphs>252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· Desempeño Sanitario Argentina · Ministerio de Salud</dc:title>
  <dc:subject>PptxGenJS Presentation</dc:subject>
  <dc:creator>PptxGenJS</dc:creator>
  <cp:lastModifiedBy>juan pablo villarael nuñez</cp:lastModifiedBy>
  <cp:revision>2</cp:revision>
  <dcterms:created xsi:type="dcterms:W3CDTF">2026-03-23T00:06:54Z</dcterms:created>
  <dcterms:modified xsi:type="dcterms:W3CDTF">2026-03-23T00:09:51Z</dcterms:modified>
</cp:coreProperties>
</file>